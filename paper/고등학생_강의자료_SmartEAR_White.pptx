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2678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73152" cy="21945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972800" y="1371600"/>
            <a:ext cx="73152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515600" y="4754880"/>
            <a:ext cx="1188720" cy="457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68680" y="1371600"/>
            <a:ext cx="9144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AI가 소음 속에서도 듣고,</a:t>
            </a:r>
            <a:endParaRPr lang="en-US" sz="4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안개 속에서도 본다!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68680" y="3017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초소형 AI 칩의 세계  —  Noise-Conditioned AI Framework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8680" y="374904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68680" y="3749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Interspeech 2026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34640" y="374904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834640" y="37490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IEEE TASLP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51960" y="374904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25196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ICASSP 2027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60720" y="374904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760720" y="37490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CVPR 2027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86600" y="374904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086600" y="37490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ICCV 2027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48640" y="63550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SmartEAR Co., Ltd.</a:t>
            </a: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고등학생 대상 AI 연구 소개 강의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64008" cy="5486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772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연구자 소개 &amp; SmartEAR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KAIST Ph.D.  |  12-year Deep-Tech Startup  |  Self-Operating Industrial AI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5303520" cy="42062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530352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최진호  |  Chief Scientist &amp; CEO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283464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5000"/>
              </a:lnSpc>
            </a:pPr>
            <a:r>
              <a:rPr lang="en-US" sz="12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KAIST Ph.D.</a:t>
            </a: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AI/신호처리 전공</a:t>
            </a:r>
            <a:r>
              <a:rPr lang="en-US" sz="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2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Harvard Business School Online</a:t>
            </a: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Credential Candidate (2027)</a:t>
            </a:r>
            <a:r>
              <a:rPr lang="en-US" sz="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2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(사)</a:t>
            </a:r>
            <a:r>
              <a:rPr lang="en-US" sz="1200" b="1" dirty="0" err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한국인공지능협회</a:t>
            </a: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ko-KR" alt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산학이사</a:t>
            </a:r>
            <a:r>
              <a:rPr lang="en-US" sz="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2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r>
              <a:rPr lang="en-US" sz="1200" b="1" dirty="0" err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휴먼플러스</a:t>
            </a:r>
            <a:r>
              <a:rPr lang="en-US" altLang="ko-KR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(주)</a:t>
            </a: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ko-KR" alt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사장</a:t>
            </a: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2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IEEE 저널 다수 게재</a:t>
            </a: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Trans. SP / IP / ASLP</a:t>
            </a:r>
            <a:r>
              <a:rPr lang="en-US" sz="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2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삼성 휴먼테크</a:t>
            </a: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금상</a:t>
            </a: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ko-KR" alt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동상 </a:t>
            </a:r>
            <a:r>
              <a:rPr lang="en-US" sz="1200" dirty="0" err="1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수상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2011680"/>
            <a:ext cx="5303520" cy="42062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309360" y="2011680"/>
            <a:ext cx="530352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537960" y="2194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D2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SmartEAR Co., Ltd.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37960" y="26517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 기반 AX(AI Transformation) 서비스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37960" y="3063240"/>
            <a:ext cx="1600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537960" y="3063240"/>
            <a:ext cx="16002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537960" y="32004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30+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629400" y="37490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321040" y="3063240"/>
            <a:ext cx="160020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8321040" y="3063240"/>
            <a:ext cx="160020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321040" y="32004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12yr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412480" y="37490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998245" y="3063240"/>
            <a:ext cx="1600200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" name="Shape 23"/>
          <p:cNvSpPr/>
          <p:nvPr/>
        </p:nvSpPr>
        <p:spPr>
          <a:xfrm>
            <a:off x="10027120" y="3063240"/>
            <a:ext cx="1600200" cy="3657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0046370" y="32004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0137810" y="37490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AX Packages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37960" y="420624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Officer AI (금융)</a:t>
            </a:r>
            <a:r>
              <a:rPr lang="en-US" sz="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1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Superintendent AI (오피스)</a:t>
            </a:r>
            <a:r>
              <a:rPr lang="en-US" sz="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1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Factory Manager AI (제조/물류)</a:t>
            </a:r>
            <a:r>
              <a:rPr lang="en-US" sz="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1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 Keeper AI (스마트 리빙)</a:t>
            </a:r>
            <a:r>
              <a:rPr lang="en-US" sz="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1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AI (교육/연구)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64008" cy="5486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772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시끄러운 카페에서도 '헤이 시리'를 알아듣는 AI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#1  |  NanoMamba: Noise-Robust KWS with Spectral-Aware SSMs  |  Interspeech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주파수별 소음 적응: </a:t>
            </a: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40개 Mel 대역을 N개 서브밴드로 묶어, 각각 독립적으로 SSM 상태의 선택성을 제어</a:t>
            </a: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소음 증폭 문제 해결: </a:t>
            </a: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기존 SSM의 O(σ⁶) 소음 분산을 O(σ²)로 이론적으로 감소시킴</a:t>
            </a: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상위 호환 보장: </a:t>
            </a: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NC-SSM의 가설 공간은 기존 SSM을 완전히 포함 (superset guarantee)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11064240" cy="640080"/>
          </a:xfrm>
          <a:prstGeom prst="rect">
            <a:avLst/>
          </a:prstGeom>
          <a:solidFill>
            <a:srgbClr val="FFF7ED"/>
          </a:solidFill>
          <a:ln w="9525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45720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</a:t>
            </a: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시끄러운 교실에서 선생님 목소리에만 집중하듯, AI도 주파수별로 "소음 필터"를 자동 조절합니다!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394960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48640" y="5394960"/>
            <a:ext cx="246888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48640" y="5532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7,443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" y="6080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Parameters (일반 AI의 수천분의 1)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27832" y="5394960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227832" y="5394960"/>
            <a:ext cx="2468880" cy="3657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227832" y="5532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O(σ²)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319272" y="6080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소음 분산 (기존 O(σ⁶)에서 감소)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07024" y="5394960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907024" y="5394960"/>
            <a:ext cx="246888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907024" y="5532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Superset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998464" y="6080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기존 SSM 완전 포함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586216" y="5394960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8586216" y="5394960"/>
            <a:ext cx="2468880" cy="3657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8586216" y="5532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bands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677656" y="6080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주파수 대역별 독립 제어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64008" cy="5486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772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소음이 AI를 망가뜨리는 원리를 수학으로 증명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#2  |  NC-SSM: Noise-Conditioned State Space Models for Robust and Efficient KWS  |  IEEE TASLP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6D2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수학적 증명: </a:t>
            </a: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입력 의존적 연산에서 소음이 곱셈적으로 결합 → 도미노처럼 내부에서 O(σ⁶)으로 증폭</a:t>
            </a: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6D2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5가지 방어 메커니즘: </a:t>
            </a: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서브밴드 선택성, Delta Floor, B-base 조건화, 학습형 스펙트럼 게이트(LSG), 스펙트럼 차감</a:t>
            </a: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6D2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Cortex-M7 실측: </a:t>
            </a: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스마트워치급 칩에서 실시간 구동 검증 완료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11064240" cy="640080"/>
          </a:xfrm>
          <a:prstGeom prst="rect">
            <a:avLst/>
          </a:prstGeom>
          <a:solidFill>
            <a:srgbClr val="FFF7ED"/>
          </a:solidFill>
          <a:ln w="9525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45720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</a:t>
            </a: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도미노처럼 소음이 들어오면 AI 안에서 점점 커져요. 이걸 5개의 방파제로 막았습니다!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394960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48640" y="5394960"/>
            <a:ext cx="246888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48640" y="5532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95.0%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" y="6080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Accuracy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27832" y="5394960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227832" y="5394960"/>
            <a:ext cx="2468880" cy="3657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227832" y="5532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+11%p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319272" y="6080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CNN @ 0dB SNR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07024" y="5394960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907024" y="5394960"/>
            <a:ext cx="246888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907024" y="5532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7.1ms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998464" y="6080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Cortex-M7 Latency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586216" y="5394960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8586216" y="5394960"/>
            <a:ext cx="2468880" cy="3657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8586216" y="5532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3.42M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677656" y="6080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MACs (CNN의 1.8배 절감)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64008" cy="5486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772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더 간단하고 더 강력한 소음 방어 AI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#3  |  NC-TCN: Noise-Conditional Temporal Convolutional Networks for On-Device KWS  |  MLSP 2026 / ICASSP 2027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핵심 발견: </a:t>
            </a: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소음 방어 기술은 AI의 "뇌 구조(backbone)"가 아니라 "귀(frontend)" 부분이 핵심!</a:t>
            </a: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LSG + DualPCEN: </a:t>
            </a: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학습형 스펙트럼 게이트(120 파라미터) + 듀얼 PCEN 전문가의 스펙트럼 평탄도 기반 라우팅</a:t>
            </a: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백본 무관(Backbone-Agnostic): </a:t>
            </a: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어떤 AI 구조에든 붙일 수 있는 범용 노이즈 방어 프론트엔드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11064240" cy="640080"/>
          </a:xfrm>
          <a:prstGeom prst="rect">
            <a:avLst/>
          </a:prstGeom>
          <a:solidFill>
            <a:srgbClr val="FFF7ED"/>
          </a:solidFill>
          <a:ln w="9525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45720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</a:t>
            </a: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좋은 헤드폰의 노이즈캔슬링처럼, AI도 입력 단계에서 소음을 처리하면 됩니다!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394960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48640" y="5394960"/>
            <a:ext cx="246888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48640" y="5532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96.6%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" y="6080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Accuracy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27832" y="5394960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227832" y="5394960"/>
            <a:ext cx="2468880" cy="3657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227832" y="5532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89.7%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319272" y="6080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Accuracy @ 0dB SNR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07024" y="5394960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907024" y="5394960"/>
            <a:ext cx="246888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907024" y="5532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10.9×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998464" y="6080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계산량 절감 vs DS-CNN-S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586216" y="5394960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8586216" y="5394960"/>
            <a:ext cx="2468880" cy="3657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8586216" y="5532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21,689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677656" y="6080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Parameters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64008" cy="5486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772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30번만 들려주면 새 단어를 배우는 AI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#4  |  NC-OPAL: Few-Shot Class-Incremental KWS via Prototype-Imprinted LoRA  |  Interspeech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6D2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Few-Shot 학습: </a:t>
            </a: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사용자가 새 키워드를 30개 샘플만으로 추가 — 최초로 2만 파라미터 모델에서 달성</a:t>
            </a: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6D2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LoRA 미세조정: </a:t>
            </a: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기존 AI를 거의 건드리지 않고 새 기능 추가 (Low-Rank Adaptation)</a:t>
            </a: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6D2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지식 증류(KD): </a:t>
            </a: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옛 기억(기존 키워드)을 보존하면서 새로운 것을 학습 — 망각률 단 1.3%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11064240" cy="640080"/>
          </a:xfrm>
          <a:prstGeom prst="rect">
            <a:avLst/>
          </a:prstGeom>
          <a:solidFill>
            <a:srgbClr val="FFF7ED"/>
          </a:solidFill>
          <a:ln w="9525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45720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</a:t>
            </a: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전학생 이름을 30번 들으면 기억하는 것처럼, AI도 30개 샘플로 새 단어를 학습합니다!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394960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48640" y="5394960"/>
            <a:ext cx="246888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48640" y="5532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91.7%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" y="6080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새 단어 정확도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27832" y="5394960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227832" y="5394960"/>
            <a:ext cx="2468880" cy="3657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227832" y="5532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319272" y="6080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기존 단어 망각률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07024" y="5394960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907024" y="5394960"/>
            <a:ext cx="246888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907024" y="5532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998464" y="6080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학습 샘플 수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586216" y="5394960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8586216" y="5394960"/>
            <a:ext cx="2468880" cy="3657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8586216" y="5532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21K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677656" y="6080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Parameters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64008" cy="5486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772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안개 낀 도로에서도 차선을 보는 AI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#5  |  NC-Conv: Dual-Path Convolution for Degradation-Robust Vision  |  ACCV / BMVC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오디오 → 비전 확장: </a:t>
            </a: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NC-SSM의 소음 방어 이론을 카메라/영상 AI로 최초 확장</a:t>
            </a: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듀얼 패스 설계: </a:t>
            </a: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동적 경로(표현력, O(σ⁴⁺)) + 정적 경로(안정성, O(σ²))를 학습된 σ 게이트로 자동 조합</a:t>
            </a: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비디오 확장: </a:t>
            </a: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양방향 시간축 NC-SSM으로 프레임별 화질 판단 → 터널 영상에서 극적 성능 향상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11064240" cy="640080"/>
          </a:xfrm>
          <a:prstGeom prst="rect">
            <a:avLst/>
          </a:prstGeom>
          <a:solidFill>
            <a:srgbClr val="FFF7ED"/>
          </a:solidFill>
          <a:ln w="9525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45720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</a:t>
            </a: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맑은 날과 안개 낀 날, 운전자가 보는 방식을 바꾸듯 AI도 화질에 따라 전략을 변경합니다!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394960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48640" y="5394960"/>
            <a:ext cx="246888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48640" y="5532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+21.7%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" y="6080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안개 환경 (CULane)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27832" y="5394960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227832" y="5394960"/>
            <a:ext cx="2468880" cy="3657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227832" y="5532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+35.2%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319272" y="6080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터널 최어두 구간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07024" y="5394960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907024" y="5394960"/>
            <a:ext cx="246888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907024" y="5532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253K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998464" y="6080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586216" y="5394960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8586216" y="5394960"/>
            <a:ext cx="2468880" cy="3657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8586216" y="5532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$8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677656" y="6080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MCU 배포 가능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64008" cy="54864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772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오디오에서 영상까지, 하나의 이론으로 통합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#6  |  NC Vision: From Dual-Path Convolution to Dilated Multi-Scale Networks  |  CVPR 2027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194560"/>
            <a:ext cx="2286000" cy="914400"/>
          </a:xfrm>
          <a:prstGeom prst="rect">
            <a:avLst/>
          </a:prstGeom>
          <a:solidFill>
            <a:srgbClr val="ECFEFF"/>
          </a:solidFill>
          <a:ln w="19050">
            <a:solidFill>
              <a:srgbClr val="0891B2"/>
            </a:solidFill>
            <a:prstDash val="solid"/>
          </a:ln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NC-SSM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(Audio)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63240" y="23774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29000" y="2194560"/>
            <a:ext cx="2286000" cy="914400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429000" y="21945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NC-Conv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(Image)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15000" y="23774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80760" y="2194560"/>
            <a:ext cx="2286000" cy="914400"/>
          </a:xfrm>
          <a:prstGeom prst="rect">
            <a:avLst/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080760" y="21945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NC-TCN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66760" y="23774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▶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732520" y="2194560"/>
            <a:ext cx="2286000" cy="914400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  <a:effectLst>
            <a:outerShdw blurRad="381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732520" y="21945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Bi-NC-SSM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(Video)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338328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통합 프레임워크: </a:t>
            </a: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하나의 수학적 이론(소음 증폭 이론)으로 오디오, 이미지, 비디오 AI 모두 개선</a:t>
            </a: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Dilated Multi-Scale: </a:t>
            </a: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확장된 수용장(dilation {1,2,4})으로 안개, 어두움 같은 넓은 영역 화질 저하 감지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11064240" cy="640080"/>
          </a:xfrm>
          <a:prstGeom prst="rect">
            <a:avLst/>
          </a:prstGeom>
          <a:solidFill>
            <a:srgbClr val="FFF7ED"/>
          </a:solidFill>
          <a:ln w="9525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85800" y="43891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</a:t>
            </a: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하나의 레시피로 빵, 케이크, 쿠키를 다 만드는 것처럼 하나의 이론으로 여러 AI를 개선!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212080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48640" y="5212080"/>
            <a:ext cx="246888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48640" y="5349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+13.5%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40080" y="5897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안개 (CIFAR-10-C)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27832" y="5212080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3227832" y="5212080"/>
            <a:ext cx="2468880" cy="3657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3227832" y="5349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+12.4%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319272" y="5897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대비 왜곡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07024" y="5212080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5907024" y="5212080"/>
            <a:ext cx="246888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907024" y="5349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253K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998464" y="5897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Parameters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586216" y="5212080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8586216" y="5212080"/>
            <a:ext cx="2468880" cy="3657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8586216" y="5349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+8.1%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8677656" y="5897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평균 오염 정확도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64008" cy="5486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772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동적 vs 정적, 그 사이의 최적점 찾기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#7  |  NC-Conv: Bridging Dynamic Expressiveness and Static Robustness  |  ICCV 2027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핵심 이론: </a:t>
            </a: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입력 의존적(동적) 처리 → 소음 증폭 O(σ⁶)  |  고정(정적) 처리 → O(σ²)</a:t>
            </a: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학습형 σ 게이트: </a:t>
            </a: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화질 라벨 없이도 자동으로 동적/정적 비율을 학습 (unsupervised)</a:t>
            </a: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상위 호환: </a:t>
            </a: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σ=1이면 기존 동적 CNN과 동일 → NC-Conv ⊃ 일반 CNN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11064240" cy="640080"/>
          </a:xfrm>
          <a:prstGeom prst="rect">
            <a:avLst/>
          </a:prstGeom>
          <a:solidFill>
            <a:srgbClr val="FFF7ED"/>
          </a:solidFill>
          <a:ln w="9525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45720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</a:t>
            </a: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날씨 좋은 날은 자전거(유연), 폭풍 올 때는 버스(안정) 타는 것처럼!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394960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48640" y="5394960"/>
            <a:ext cx="246888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48640" y="5532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+6.1%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" y="6080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평균 오염 정확도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27832" y="5394960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227832" y="5394960"/>
            <a:ext cx="2468880" cy="3657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227832" y="5532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+13.5%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319272" y="6080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안개 환경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07024" y="5394960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907024" y="5394960"/>
            <a:ext cx="246888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907024" y="5532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+12.4%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998464" y="6080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대비 왜곡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586216" y="5394960"/>
            <a:ext cx="2468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8586216" y="5394960"/>
            <a:ext cx="2468880" cy="3657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8586216" y="5532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88.7%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677656" y="6080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성능 유지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64008" cy="5486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772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하나의 아이디어가 세상을 바꾸는 과정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 Roadmap  |  하나의 수학적 통찰 → 소리, 이미지, 영상 전체에 적용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3154680"/>
            <a:ext cx="10607040" cy="3657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371600" y="297180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14400" y="23317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 초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3566160"/>
            <a:ext cx="1325880" cy="12801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14400" y="3566160"/>
            <a:ext cx="132588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14400" y="36576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NC-SSM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40233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소리 인식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Interspeech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0" y="297180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017520" y="23317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 초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017520" y="3566160"/>
            <a:ext cx="1325880" cy="12801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017520" y="3566160"/>
            <a:ext cx="132588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017520" y="36576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TASLP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63240" y="40233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이론 증명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IEEE 저널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77840" y="297180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120640" y="23317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 중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20640" y="3566160"/>
            <a:ext cx="1325880" cy="12801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5120640" y="3566160"/>
            <a:ext cx="132588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120640" y="36576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NC-TCN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66360" y="40233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효율적 소음 방어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MLSP/ICASSP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680960" y="297180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223760" y="23317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23760" y="3566160"/>
            <a:ext cx="1325880" cy="12801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7223760" y="3566160"/>
            <a:ext cx="1325880" cy="3657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223760" y="36576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NC-OPAL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69480" y="40233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맞춤 학습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Interspeech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784080" y="297180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9326880" y="23317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2026~27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326880" y="3566160"/>
            <a:ext cx="1325880" cy="12801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9326880" y="3566160"/>
            <a:ext cx="1325880" cy="3657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9326880" y="36576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NC-Conv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372600" y="40233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이미지·비디오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ACCV→CVPR→ICCV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5303520"/>
            <a:ext cx="11064240" cy="91440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548640" y="5303520"/>
            <a:ext cx="1106424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777240" y="54406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 메시지:  </a:t>
            </a: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하나의 수학적 통찰(소음 증폭 이론)을 발견하면, 소리 → 이미지 → 영상 전체에 적용할 수 있습니다. </a:t>
            </a:r>
            <a:r>
              <a:rPr lang="en-US" sz="14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깊이 있는 하나가 넓은 확장을 만듭니다.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8640" y="6492240"/>
            <a:ext cx="1106424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64008" cy="54864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772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 기술이 바꿀 미래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Applications  |  비싼 GPU 없이도, 손목시계 크기의 칩에서 작동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2560320" cy="16459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256032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스마트워치 / 이어버드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6060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소음 속에서도 음성 명령 인식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Always-on KWS, &lt;10ms latency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2011680"/>
            <a:ext cx="2560320" cy="16459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383280" y="2011680"/>
            <a:ext cx="256032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52044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자율주행차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26060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안개/터널에서도 차선 인식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+35% 터널 어두운 구간 향상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011680"/>
            <a:ext cx="2560320" cy="16459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217920" y="2011680"/>
            <a:ext cx="2560320" cy="3657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35508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보청기 / 의료기기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26060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개인 맞춤 음성 인식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30샘플로 새 키워드 학습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52560" y="2011680"/>
            <a:ext cx="2560320" cy="16459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052560" y="2011680"/>
            <a:ext cx="2560320" cy="3657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18972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CCTV / IoT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89720" y="26060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열악한 환경 영상 분석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$8 MCU에서 실시간 구동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3931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SmartEAR AX 패키지와의 연결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4434840"/>
            <a:ext cx="2560320" cy="137160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48640" y="4434840"/>
            <a:ext cx="256032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40080" y="4572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Factory Manager AI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49377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공장 소음 속 음성제어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불량 비전 검사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83280" y="4434840"/>
            <a:ext cx="2560320" cy="137160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3383280" y="4434840"/>
            <a:ext cx="256032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3474720" y="4572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House Keeper AI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74720" y="49377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스마트홈 음성 인식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환경 적응형 CCTV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4434840"/>
            <a:ext cx="2560320" cy="137160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6217920" y="4434840"/>
            <a:ext cx="2560320" cy="3657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309360" y="4572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Superintendent AI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09360" y="49377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사무실 회의 키워드 감지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출입 영상 분석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052560" y="4434840"/>
            <a:ext cx="2560320" cy="137160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9052560" y="4434840"/>
            <a:ext cx="2560320" cy="3657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9144000" y="4572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Academic AI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144000" y="49377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교육용 음성 인터페이스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실험실 모니터링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solidFill>
            <a:srgbClr val="0891B2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핵심: 비싼 GPU 없이도, 손목시계 크기의 칩에서 작동!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73152" cy="914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972800" y="1097280"/>
            <a:ext cx="73152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연구자의 길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"하나의 핵심 아이디어를 깊이 파고들면, 여러 분야로 확장할 수 있습니다"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3520440" cy="320040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52044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수학이 언어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31546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확률, 선형대수가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AI의 기초 언어입니다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O(σ⁶) vs O(σ²) 같은 통찰이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7편의 논문을 만들었습니다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2286000"/>
            <a:ext cx="3520440" cy="320040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343400" y="2286000"/>
            <a:ext cx="352044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526280" y="24688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코딩이 도구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26280" y="3017520"/>
            <a:ext cx="31546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Python, PyTorch로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아이디어를 실험합니다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이론만으로는 부족하고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실험으로 증명해야 합니다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2286000"/>
            <a:ext cx="3520440" cy="320040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138160" y="2286000"/>
            <a:ext cx="3520440" cy="3657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321040" y="24688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호기심이 시작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21040" y="3017520"/>
            <a:ext cx="31546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"왜 소음에서 AI가 망가질까?"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 질문 하나에서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7편의 논문과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5개의 특허가 탄생했습니다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6035040"/>
            <a:ext cx="12192000" cy="8229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contact@smartear.co.kr</a:t>
            </a: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</a:t>
            </a:r>
            <a:r>
              <a:rPr lang="en-US" sz="11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www.smartear.co.kr</a:t>
            </a: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</a:t>
            </a: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SmartEAR Co., Ltd.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1385</Words>
  <Application>Microsoft Office PowerPoint</Application>
  <PresentationFormat>와이드스크린</PresentationFormat>
  <Paragraphs>213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Arial</vt:lpstr>
      <vt:lpstr>Consolas</vt:lpstr>
      <vt:lpstr>Segoe UI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Research Lecture - SmartEAR White Theme</dc:title>
  <dc:subject>PptxGenJS Presentation</dc:subject>
  <dc:creator>SmartEAR Co., Ltd.</dc:creator>
  <cp:lastModifiedBy>jinho choi</cp:lastModifiedBy>
  <cp:revision>3</cp:revision>
  <dcterms:created xsi:type="dcterms:W3CDTF">2026-04-04T02:44:56Z</dcterms:created>
  <dcterms:modified xsi:type="dcterms:W3CDTF">2026-04-04T02:51:27Z</dcterms:modified>
</cp:coreProperties>
</file>