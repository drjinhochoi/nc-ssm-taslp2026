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80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2845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858000" y="2743200"/>
            <a:ext cx="4572000" cy="4572000"/>
          </a:xfrm>
          <a:prstGeom prst="ellipse">
            <a:avLst/>
          </a:prstGeom>
          <a:solidFill>
            <a:srgbClr val="06B6D4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731520"/>
            <a:ext cx="640080" cy="64008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548640"/>
            <a:ext cx="640080" cy="64008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457200"/>
            <a:ext cx="548640" cy="54864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31520" y="146304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AI가 소음 속에서도 듣고,</a:t>
            </a:r>
            <a:endParaRPr lang="en-US" sz="3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안개 속에서도 본다!</a:t>
            </a:r>
            <a:endParaRPr lang="en-US" sz="3800" dirty="0"/>
          </a:p>
        </p:txBody>
      </p:sp>
      <p:sp>
        <p:nvSpPr>
          <p:cNvPr id="8" name="Text 3"/>
          <p:cNvSpPr/>
          <p:nvPr/>
        </p:nvSpPr>
        <p:spPr>
          <a:xfrm>
            <a:off x="1371600" y="32918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초소형 AI 칩의 </a:t>
            </a:r>
            <a:r>
              <a:rPr lang="en-US" sz="1800" dirty="0" err="1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세계</a:t>
            </a:r>
            <a:r>
              <a:rPr lang="en-US" sz="1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1800" dirty="0" err="1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최진</a:t>
            </a:r>
            <a:r>
              <a:rPr lang="ko-KR" altLang="en-US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 Chief Scientist</a:t>
            </a:r>
            <a:r>
              <a:rPr lang="en-US" sz="1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 논문 이야기</a:t>
            </a:r>
            <a:endParaRPr lang="en-US" sz="1800" dirty="0"/>
          </a:p>
        </p:txBody>
      </p:sp>
      <p:sp>
        <p:nvSpPr>
          <p:cNvPr id="9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5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고등학생 대상 AI 연구 소개 강의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2743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연구자 소개 &amp; 왜 이 연구를 하나?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393192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6063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27284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최진호 Chief Scientist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400860" y="1570027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SmartEar Co., Ltd.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" y="1890982"/>
            <a:ext cx="3584448" cy="24707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ko-KR" altLang="en-US" sz="1100" dirty="0"/>
              <a:t>학력 및 경력</a:t>
            </a:r>
            <a:endParaRPr lang="en-US" altLang="ko-KR" sz="1100" dirty="0"/>
          </a:p>
          <a:p>
            <a:r>
              <a:rPr lang="en-US" altLang="ko-KR" sz="1000" dirty="0"/>
              <a:t>KAIST </a:t>
            </a:r>
            <a:r>
              <a:rPr lang="en-US" altLang="ko-KR" sz="1000" dirty="0" err="1"/>
              <a:t>Ph.D</a:t>
            </a:r>
            <a:r>
              <a:rPr lang="en-US" altLang="ko-KR" sz="1000" dirty="0"/>
              <a:t>  — AI/</a:t>
            </a:r>
            <a:r>
              <a:rPr lang="ko-KR" altLang="en-US" sz="1000" dirty="0"/>
              <a:t>신호처리 전공</a:t>
            </a:r>
            <a:endParaRPr lang="en-US" altLang="ko-KR" sz="1000" dirty="0"/>
          </a:p>
          <a:p>
            <a:r>
              <a:rPr lang="en-US" altLang="ko-KR" sz="1000" dirty="0"/>
              <a:t>IEEE Member</a:t>
            </a:r>
            <a:endParaRPr lang="ko-KR" altLang="en-US" sz="1000" dirty="0"/>
          </a:p>
          <a:p>
            <a:r>
              <a:rPr lang="en-US" altLang="ko-KR" sz="1000" dirty="0"/>
              <a:t>Harvard Business School Online  — Credential Candidate (2027)</a:t>
            </a:r>
          </a:p>
          <a:p>
            <a:r>
              <a:rPr lang="en-US" altLang="ko-KR" sz="1000" dirty="0"/>
              <a:t>(</a:t>
            </a:r>
            <a:r>
              <a:rPr lang="ko-KR" altLang="en-US" sz="1000" dirty="0"/>
              <a:t>사</a:t>
            </a:r>
            <a:r>
              <a:rPr lang="en-US" altLang="ko-KR" sz="1000" dirty="0"/>
              <a:t>)</a:t>
            </a:r>
            <a:r>
              <a:rPr lang="ko-KR" altLang="en-US" sz="1000" dirty="0"/>
              <a:t>한국인공지능학회 산학이사</a:t>
            </a:r>
            <a:endParaRPr lang="en-US" altLang="ko-KR" sz="1000" dirty="0"/>
          </a:p>
          <a:p>
            <a:r>
              <a:rPr lang="ko-KR" altLang="en-US" sz="1000" dirty="0" err="1"/>
              <a:t>코리아스타트업포럼</a:t>
            </a:r>
            <a:r>
              <a:rPr lang="ko-KR" altLang="en-US" sz="1000" dirty="0"/>
              <a:t> 정회원</a:t>
            </a:r>
          </a:p>
          <a:p>
            <a:r>
              <a:rPr lang="ko-KR" altLang="en-US" sz="1000" dirty="0"/>
              <a:t>휴먼플러스㈜  사장 </a:t>
            </a:r>
            <a:r>
              <a:rPr lang="en-US" altLang="ko-KR" sz="1000" dirty="0"/>
              <a:t>(</a:t>
            </a:r>
            <a:r>
              <a:rPr lang="ko-KR" altLang="en-US" sz="1000" dirty="0"/>
              <a:t>신사업</a:t>
            </a:r>
            <a:r>
              <a:rPr lang="en-US" altLang="ko-KR" sz="1000" dirty="0"/>
              <a:t>/</a:t>
            </a:r>
            <a:r>
              <a:rPr lang="ko-KR" altLang="en-US" sz="1000" dirty="0"/>
              <a:t>중견기업 도약사업</a:t>
            </a:r>
            <a:r>
              <a:rPr lang="en-US" altLang="ko-KR" sz="1000" dirty="0"/>
              <a:t>)</a:t>
            </a:r>
            <a:endParaRPr lang="ko-KR" altLang="en-US" sz="1000" dirty="0"/>
          </a:p>
          <a:p>
            <a:r>
              <a:rPr lang="en-US" altLang="ko-KR" sz="1000" dirty="0"/>
              <a:t>IEEE </a:t>
            </a:r>
            <a:r>
              <a:rPr lang="ko-KR" altLang="en-US" sz="1000" dirty="0"/>
              <a:t>저널 다수 투고 및 게재  </a:t>
            </a:r>
            <a:r>
              <a:rPr lang="en-US" altLang="ko-KR" sz="1000" dirty="0"/>
              <a:t>— Trans. SP / IP / ASLP</a:t>
            </a:r>
          </a:p>
          <a:p>
            <a:r>
              <a:rPr lang="ko-KR" altLang="en-US" sz="1000" dirty="0"/>
              <a:t>삼성 </a:t>
            </a:r>
            <a:r>
              <a:rPr lang="ko-KR" altLang="en-US" sz="1000" dirty="0" err="1"/>
              <a:t>휴먼테크</a:t>
            </a:r>
            <a:r>
              <a:rPr lang="ko-KR" altLang="en-US" sz="1000" dirty="0"/>
              <a:t>  금상</a:t>
            </a:r>
            <a:r>
              <a:rPr lang="en-US" altLang="ko-KR" sz="1000" dirty="0"/>
              <a:t>/</a:t>
            </a:r>
            <a:r>
              <a:rPr lang="ko-KR" altLang="en-US" sz="1000" dirty="0"/>
              <a:t>동상 수상</a:t>
            </a:r>
            <a:endParaRPr lang="en-US" altLang="ko-KR" sz="10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 err="1"/>
              <a:t>연구</a:t>
            </a:r>
            <a:r>
              <a:rPr lang="en-US" sz="1100" dirty="0"/>
              <a:t> </a:t>
            </a:r>
            <a:r>
              <a:rPr lang="en-US" sz="1100" dirty="0" err="1"/>
              <a:t>분야</a:t>
            </a:r>
            <a:endParaRPr lang="en-US" sz="1100" dirty="0"/>
          </a:p>
          <a:p>
            <a:pPr marL="0" indent="0">
              <a:buNone/>
            </a:pPr>
            <a:r>
              <a:rPr lang="en-US" sz="1000" dirty="0"/>
              <a:t>초소형 AI 모델 설계 &amp; </a:t>
            </a:r>
            <a:r>
              <a:rPr lang="ko-KR" altLang="en-US" sz="1000" dirty="0"/>
              <a:t>노이즈에</a:t>
            </a:r>
            <a:r>
              <a:rPr lang="en-US" sz="1000" dirty="0"/>
              <a:t> </a:t>
            </a:r>
            <a:r>
              <a:rPr lang="en-US" sz="1000" dirty="0" err="1"/>
              <a:t>강인</a:t>
            </a:r>
            <a:r>
              <a:rPr lang="ko-KR" altLang="en-US" sz="1000" dirty="0"/>
              <a:t>한</a:t>
            </a:r>
            <a:r>
              <a:rPr lang="en-US" sz="1000" dirty="0"/>
              <a:t> </a:t>
            </a:r>
            <a:r>
              <a:rPr lang="en-US" sz="1000" dirty="0" err="1"/>
              <a:t>음성</a:t>
            </a:r>
            <a:r>
              <a:rPr lang="en-US" sz="1000" dirty="0"/>
              <a:t>/</a:t>
            </a:r>
            <a:r>
              <a:rPr lang="ko-KR" altLang="en-US" sz="1000" dirty="0"/>
              <a:t>영상 </a:t>
            </a:r>
            <a:r>
              <a:rPr lang="en-US" sz="1000" dirty="0" err="1"/>
              <a:t>인식</a:t>
            </a:r>
            <a:endParaRPr lang="en-US" sz="10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 err="1"/>
              <a:t>목표</a:t>
            </a:r>
            <a:endParaRPr lang="en-US" sz="1100" dirty="0"/>
          </a:p>
          <a:p>
            <a:pPr marL="0" indent="0">
              <a:buNone/>
            </a:pPr>
            <a:r>
              <a:rPr lang="en-US" sz="1000" dirty="0"/>
              <a:t>스마트워치, </a:t>
            </a:r>
            <a:r>
              <a:rPr lang="en-US" sz="1000" dirty="0" err="1"/>
              <a:t>이어버드</a:t>
            </a:r>
            <a:r>
              <a:rPr lang="en-US" sz="1000" dirty="0"/>
              <a:t> </a:t>
            </a:r>
            <a:r>
              <a:rPr lang="ko-KR" altLang="en-US" sz="1000" dirty="0"/>
              <a:t>스마트 </a:t>
            </a:r>
            <a:r>
              <a:rPr lang="ko-KR" altLang="en-US" sz="1000" dirty="0" err="1"/>
              <a:t>글래스</a:t>
            </a:r>
            <a:r>
              <a:rPr lang="en-US" sz="1000" dirty="0"/>
              <a:t> 같은 작은 기기에서도</a:t>
            </a:r>
          </a:p>
          <a:p>
            <a:pPr marL="0" indent="0">
              <a:buNone/>
            </a:pPr>
            <a:r>
              <a:rPr lang="en-US" sz="1000" dirty="0"/>
              <a:t>똑똑하게 작동하는 AI </a:t>
            </a:r>
            <a:r>
              <a:rPr lang="ko-KR" altLang="en-US" sz="1000" dirty="0"/>
              <a:t>구현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0891B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463040"/>
            <a:ext cx="914400" cy="9144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29200" y="2468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질문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029200" y="292608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"시끄러운 곳에서도</a:t>
            </a:r>
            <a:endParaRPr lang="en-US" sz="1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내 말을</a:t>
            </a:r>
            <a:endParaRPr lang="en-US" sz="1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알아들을 수 있을까?"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이 질문 하나에서 7편의 </a:t>
            </a:r>
            <a:r>
              <a:rPr lang="en-US" sz="1300" b="1" dirty="0" err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</a:t>
            </a: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및 특허가 </a:t>
            </a:r>
            <a:r>
              <a:rPr lang="en-US" sz="1300" b="1" dirty="0" err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탄생했습니다</a:t>
            </a: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457200" y="22860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228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시끄러운 카페에서도 '헤이 시리'를 알아듣는 AI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solidFill>
            <a:srgbClr val="0891B2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10515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0891B2"/>
                </a:solidFill>
              </a:rPr>
              <a:t>논문 #1 </a:t>
            </a:r>
            <a:r>
              <a:rPr lang="en-US" altLang="ko-KR" sz="10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NanoMamba</a:t>
            </a:r>
            <a:r>
              <a:rPr lang="en-US" altLang="ko-KR" sz="1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Noise-Robust KWS with Spectral-Aware SSMs </a:t>
            </a:r>
            <a:r>
              <a:rPr lang="en-US" sz="1000" b="1" dirty="0">
                <a:solidFill>
                  <a:srgbClr val="F97316"/>
                </a:solidFill>
              </a:rPr>
              <a:t>[Interspeech 2026]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502920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54864" cy="28346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77240" y="1828800"/>
            <a:ext cx="4480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주변 소음 수준에 따라 AI가 자동으로 귀를 조절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40개 주파수 대역별로 독립적 소음 필터링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AI(SSM)의 소음 증폭 문제를 수학적으로 해결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파라미터 7,443개 (일반 AI의 수천분의 1)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3703320"/>
            <a:ext cx="4480560" cy="731520"/>
          </a:xfrm>
          <a:prstGeom prst="rect">
            <a:avLst/>
          </a:prstGeom>
          <a:solidFill>
            <a:srgbClr val="FED7AA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14400" y="37033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비유: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시끄러운 교실에서 선생님 목소리에만 집중하는 것처럼, AI도 주파수별로 소음 필터를 자동 조절!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0" y="1737360"/>
            <a:ext cx="2926080" cy="2834640"/>
          </a:xfrm>
          <a:prstGeom prst="rect">
            <a:avLst/>
          </a:prstGeom>
          <a:solidFill>
            <a:srgbClr val="0891B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920240"/>
            <a:ext cx="640080" cy="6400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943600" y="2606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주요 성과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943600" y="301752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파라미터: 7,443개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소음 방어 O(σ²)로 감소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SSM 완전 포함 (superset)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457200" y="228600"/>
            <a:ext cx="640080" cy="640080"/>
          </a:xfrm>
          <a:prstGeom prst="ellipse">
            <a:avLst/>
          </a:prstGeom>
          <a:solidFill>
            <a:srgbClr val="1B4D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228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왜 소음이 AI를 망가뜨리는지 수학으로 증명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solidFill>
            <a:srgbClr val="0891B2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10515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</a:rPr>
              <a:t>논문 #2  </a:t>
            </a:r>
            <a:r>
              <a:rPr lang="en-US" sz="1000" i="1" dirty="0">
                <a:solidFill>
                  <a:srgbClr val="475569"/>
                </a:solidFill>
              </a:rPr>
              <a:t>NC-SSM: Noise-Conditioned State Space Models for Robust and Efficient KWS</a:t>
            </a:r>
            <a:r>
              <a:rPr lang="en-US" sz="1000" b="1" dirty="0">
                <a:solidFill>
                  <a:srgbClr val="F97316"/>
                </a:solidFill>
              </a:rPr>
              <a:t>  [IEEE TASLP]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502920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54864" cy="2834640"/>
          </a:xfrm>
          <a:prstGeom prst="rect">
            <a:avLst/>
          </a:prstGeom>
          <a:solidFill>
            <a:srgbClr val="1B4D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77240" y="1828800"/>
            <a:ext cx="4480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AI가 소음에 약한 이유를 수학으로 밝힘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소음이 AI 내부에서 도미노처럼 증폭됨 (O(σ⁶) vs O(σ²))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5가지 보호 메커니즘으로 소음 증폭 차단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스마트워치 칩(Cortex-M7)에서 7.1ms 처리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3703320"/>
            <a:ext cx="4480560" cy="731520"/>
          </a:xfrm>
          <a:prstGeom prst="rect">
            <a:avLst/>
          </a:prstGeom>
          <a:solidFill>
            <a:srgbClr val="FED7AA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14400" y="37033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비유: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도미노처럼 소음이 들어오면 AI 안에서 점점 커져요. 이걸 5개의 방파제로 막았습니다!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0" y="1737360"/>
            <a:ext cx="2926080" cy="2834640"/>
          </a:xfrm>
          <a:prstGeom prst="rect">
            <a:avLst/>
          </a:prstGeom>
          <a:solidFill>
            <a:srgbClr val="1B4D6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920240"/>
            <a:ext cx="640080" cy="6400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943600" y="2606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주요 성과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943600" y="301752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정확도: 95.0%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소음 환경: CNN 대비 +11%p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처리 속도: 7.1ms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연산량: 3.42M MACs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457200" y="22860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228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더 간단하고 더 강력한 소음 방어 AI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solidFill>
            <a:srgbClr val="0891B2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10515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</a:rPr>
              <a:t>논문 #3  </a:t>
            </a:r>
            <a:r>
              <a:rPr lang="en-US" sz="1000" i="1" dirty="0">
                <a:solidFill>
                  <a:srgbClr val="475569"/>
                </a:solidFill>
              </a:rPr>
              <a:t>Noise-Conditional Temporal Convolutional Networks for Robust On-Device KWS</a:t>
            </a:r>
            <a:r>
              <a:rPr lang="en-US" sz="1000" b="1" dirty="0">
                <a:solidFill>
                  <a:srgbClr val="F97316"/>
                </a:solidFill>
              </a:rPr>
              <a:t>  [MLSP 2026 / ICASSP 2027]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502920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54864" cy="28346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77240" y="1828800"/>
            <a:ext cx="4480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소음 방어는 AI의 '뇌 구조'가 아닌 '귀' 부분이 핵심!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LSG(학습형 스펙트럼 게이트) + DualPCEN 기술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단계에서 소음을 처리하는 범용 프론트엔드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AI 백본에도 붙일 수 있는 모듈형 설계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3703320"/>
            <a:ext cx="4480560" cy="731520"/>
          </a:xfrm>
          <a:prstGeom prst="rect">
            <a:avLst/>
          </a:prstGeom>
          <a:solidFill>
            <a:srgbClr val="FED7AA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14400" y="37033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비유: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좋은 헤드폰의 노이즈캔슬링처럼, AI도 입력 단계에서 소음을 처리하면 됨!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0" y="1737360"/>
            <a:ext cx="2926080" cy="2834640"/>
          </a:xfrm>
          <a:prstGeom prst="rect">
            <a:avLst/>
          </a:prstGeom>
          <a:solidFill>
            <a:srgbClr val="0891B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920240"/>
            <a:ext cx="640080" cy="6400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943600" y="2606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주요 성과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943600" y="301752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정확도: 96.6%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소음 0dB: 89.7%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계산량 10.9배 절감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파라미터: 21,689개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457200" y="228600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228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30번만 들려주면 새 단어를 배우는 AI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solidFill>
            <a:srgbClr val="0891B2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10515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</a:rPr>
              <a:t>논문 #4  </a:t>
            </a:r>
            <a:r>
              <a:rPr lang="en-US" sz="1000" i="1" dirty="0">
                <a:solidFill>
                  <a:srgbClr val="475569"/>
                </a:solidFill>
              </a:rPr>
              <a:t>NC-OPAL: Few-Shot Class-Incremental KWS via Prototype-Imprinted LoRA</a:t>
            </a:r>
            <a:r>
              <a:rPr lang="en-US" sz="1000" b="1" dirty="0">
                <a:solidFill>
                  <a:srgbClr val="F97316"/>
                </a:solidFill>
              </a:rPr>
              <a:t>  [Interspeech 2026]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502920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54864" cy="28346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77240" y="1828800"/>
            <a:ext cx="4480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사용자가 새 키워드를 소량 데이터로 추가 학습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LoRA: 기존 AI를 거의 건드리지 않고 새 기능 추가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지식 증류: 옛 기억을 보존하면서 새로운 것 학습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최초의 2만 파라미터 모델에서의 증분 학습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3703320"/>
            <a:ext cx="4480560" cy="731520"/>
          </a:xfrm>
          <a:prstGeom prst="rect">
            <a:avLst/>
          </a:prstGeom>
          <a:solidFill>
            <a:srgbClr val="FED7AA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14400" y="37033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비유: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전학생 이름을 30번 들으면 기억하는 것처럼, AI도 30개 샘플로 새 단어를 학습!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0" y="1737360"/>
            <a:ext cx="2926080" cy="2834640"/>
          </a:xfrm>
          <a:prstGeom prst="rect">
            <a:avLst/>
          </a:prstGeom>
          <a:solidFill>
            <a:srgbClr val="8B5C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920240"/>
            <a:ext cx="640080" cy="6400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943600" y="2606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주요 성과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943600" y="301752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단어 정확도: 91.7%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단어 망각률: 1.3%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샘플: 단 30개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크기: 21K 파라미터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457200" y="22860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228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안개 낌 도로에서도 차선을 보는 AI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solidFill>
            <a:srgbClr val="0891B2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10515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</a:rPr>
              <a:t>논문 #5  </a:t>
            </a:r>
            <a:r>
              <a:rPr lang="en-US" sz="1000" i="1" dirty="0">
                <a:solidFill>
                  <a:srgbClr val="475569"/>
                </a:solidFill>
              </a:rPr>
              <a:t>NC-Conv: Noise-Conditioned Dual-Path Convolution for Degradation-Robust Vision</a:t>
            </a:r>
            <a:r>
              <a:rPr lang="en-US" sz="1000" b="1" dirty="0">
                <a:solidFill>
                  <a:srgbClr val="F97316"/>
                </a:solidFill>
              </a:rPr>
              <a:t>  [ACCV / BMVC 2026]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502920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54864" cy="28346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77240" y="1828800"/>
            <a:ext cx="4480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오디오 소음 방어 기술을 카메라/영상으로 확장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듀얼 패스: 동적 경로(표현력) + 정적 경로(안정성)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화질에 따라 자동으로 경로 조합 비율 조절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터널 영상에서 프레임별 화질 판단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3703320"/>
            <a:ext cx="4480560" cy="731520"/>
          </a:xfrm>
          <a:prstGeom prst="rect">
            <a:avLst/>
          </a:prstGeom>
          <a:solidFill>
            <a:srgbClr val="FED7AA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14400" y="37033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비유: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맑은 날과 안개 낌 날, 운전자가 보는 방식을 바꾸듯 AI도 화질에 따라 전략 변경!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0" y="1737360"/>
            <a:ext cx="2926080" cy="2834640"/>
          </a:xfrm>
          <a:prstGeom prst="rect">
            <a:avLst/>
          </a:prstGeom>
          <a:solidFill>
            <a:srgbClr val="10B98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920240"/>
            <a:ext cx="640080" cy="6400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943600" y="2606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주요 성과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943600" y="301752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안개 환경: +21.7%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터널 최어두 구간: +35.2%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파라미터: 253K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 MCU에서 배포 가능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457200" y="228600"/>
            <a:ext cx="640080" cy="640080"/>
          </a:xfrm>
          <a:prstGeom prst="ellipse">
            <a:avLst/>
          </a:prstGeom>
          <a:solidFill>
            <a:srgbClr val="1B4D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228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오디오에서 영상까지, 하나의 이론으로 통합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solidFill>
            <a:srgbClr val="0891B2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10515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</a:rPr>
              <a:t>논문 #6  </a:t>
            </a:r>
            <a:r>
              <a:rPr lang="en-US" sz="1000" i="1" dirty="0">
                <a:solidFill>
                  <a:srgbClr val="475569"/>
                </a:solidFill>
              </a:rPr>
              <a:t>NC Vision: From Dual-Path Convolution to Dilated Multi-Scale Temporal Networks</a:t>
            </a:r>
            <a:r>
              <a:rPr lang="en-US" sz="1000" b="1" dirty="0">
                <a:solidFill>
                  <a:srgbClr val="F97316"/>
                </a:solidFill>
              </a:rPr>
              <a:t>  [CVPR 2027]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502920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54864" cy="2834640"/>
          </a:xfrm>
          <a:prstGeom prst="rect">
            <a:avLst/>
          </a:prstGeom>
          <a:solidFill>
            <a:srgbClr val="1B4D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77240" y="1828800"/>
            <a:ext cx="4480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NC-SSM(오디오) → NC-Conv(이미지) → NC-TCN Vision → Bi-NC-SSM(비디오)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수학적 이론으로 4가지 AI 구조 개선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확장된 수용장(dilated)으로 넓은 영역 화질 판단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초소형 253K 파라미터로 다양한 영역 커버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3703320"/>
            <a:ext cx="4480560" cy="731520"/>
          </a:xfrm>
          <a:prstGeom prst="rect">
            <a:avLst/>
          </a:prstGeom>
          <a:solidFill>
            <a:srgbClr val="FED7AA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14400" y="37033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비유: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레시피로 빵, 케이크, 쿠키를 다 만드는 것처럼 하나의 이론으로 여러 AI를 개선!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0" y="1737360"/>
            <a:ext cx="2926080" cy="2834640"/>
          </a:xfrm>
          <a:prstGeom prst="rect">
            <a:avLst/>
          </a:prstGeom>
          <a:solidFill>
            <a:srgbClr val="1B4D6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920240"/>
            <a:ext cx="640080" cy="6400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943600" y="2606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주요 성과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943600" y="301752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안개: +13.5%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대비 왔곡: +12.4%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파라미터: 253K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오디오+비전 통합 프레임워크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457200" y="228600"/>
            <a:ext cx="640080" cy="64008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228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동적 vs 정적, 그 사이의 최적점 찾기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solidFill>
            <a:srgbClr val="0891B2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10515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</a:rPr>
              <a:t>논문 #7  </a:t>
            </a:r>
            <a:r>
              <a:rPr lang="en-US" sz="1000" i="1" dirty="0">
                <a:solidFill>
                  <a:srgbClr val="475569"/>
                </a:solidFill>
              </a:rPr>
              <a:t>NC-Conv: Bridging Dynamic Expressiveness and Static Robustness for Degraded Vision</a:t>
            </a:r>
            <a:r>
              <a:rPr lang="en-US" sz="1000" b="1" dirty="0">
                <a:solidFill>
                  <a:srgbClr val="F97316"/>
                </a:solidFill>
              </a:rPr>
              <a:t>  [ICCV 2027]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502920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54864" cy="283464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77240" y="1828800"/>
            <a:ext cx="4480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화질 좋을 때는 동적(유연한) 처리, 나쁘 때는 정적(안정적) 처리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수학적 증명: 동적 처리의 소음 증폭 O(σ⁶) vs 정적 O(σ²)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화질 라벨 없이도 자동으로 학습 (unsupervised σ)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NC-Conv ⊃ 일반 CNN (σ=1일 때 기존 CNN과 동일)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3703320"/>
            <a:ext cx="4480560" cy="731520"/>
          </a:xfrm>
          <a:prstGeom prst="rect">
            <a:avLst/>
          </a:prstGeom>
          <a:solidFill>
            <a:srgbClr val="FED7AA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14400" y="37033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비유: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날씨 좋은 날은 자전거(유연), 폭풍 올 때는 버스(안정) 타는 것처럼!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0" y="1737360"/>
            <a:ext cx="2926080" cy="2834640"/>
          </a:xfrm>
          <a:prstGeom prst="rect">
            <a:avLst/>
          </a:prstGeom>
          <a:solidFill>
            <a:srgbClr val="F9731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920240"/>
            <a:ext cx="640080" cy="6400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943600" y="2606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주요 성과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943600" y="301752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오염 영상: +6.1%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깨끗한 영상 성능 유지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안개: +13.5%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대비 왔곡: +12.4%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457200" y="22860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228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하나의 아이디어가 세상을 바꾸는 과정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7680960" cy="0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14400" y="210312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초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NC-SSM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9260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소리 인식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210312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194560" y="1554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중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94560" y="2606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NC-TCN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94560" y="29260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 효율적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06240" y="210312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840480" y="1554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0" y="2606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NC-OPAL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0" y="29260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맞춤 학습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52160" y="210312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486400" y="1554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하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0" y="2606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NC-Conv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0" y="29260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이미지로 확장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98080" y="2103120"/>
            <a:ext cx="365760" cy="36576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132320" y="1554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32320" y="2606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NC Vision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32320" y="29260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 이론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371600" y="3474720"/>
            <a:ext cx="6400800" cy="1188720"/>
          </a:xfrm>
          <a:prstGeom prst="rect">
            <a:avLst/>
          </a:prstGeom>
          <a:solidFill>
            <a:srgbClr val="0891B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703320"/>
            <a:ext cx="548640" cy="54864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2560320" y="356616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메시지
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수학적 통찰(소음 증폭 이론)을 발견하면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소리, 이미지, 영상 전체에 적용할 수 있습니다!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457200" y="228600"/>
            <a:ext cx="640080" cy="64008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228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 기술이 바꿀 미래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93192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1732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325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스마트워치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463040" y="17373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소음 속에서도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음성 명령 인식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54880" y="10972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754880" y="1097280"/>
            <a:ext cx="393192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41732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760720" y="1325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자율주행차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760720" y="17373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안개/터널에서도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시야 확보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57200" y="29260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457200" y="2926080"/>
            <a:ext cx="393192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246120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63040" y="3154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보청기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463040" y="35661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 맞춤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음성 인식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4754880" y="29260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7"/>
          <p:cNvSpPr/>
          <p:nvPr/>
        </p:nvSpPr>
        <p:spPr>
          <a:xfrm>
            <a:off x="4754880" y="2926080"/>
            <a:ext cx="3931920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246120"/>
            <a:ext cx="548640" cy="5486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760720" y="3154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CCTV / IoT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5760720" y="35661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열악한 환경에서도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영상 분석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1371600" y="4617720"/>
            <a:ext cx="6400800" cy="41148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1"/>
          <p:cNvSpPr/>
          <p:nvPr/>
        </p:nvSpPr>
        <p:spPr>
          <a:xfrm>
            <a:off x="1371600" y="46177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핵심: 비싼 GPU 없이도, 손목시계 크기의 칩에서 작동!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0891B2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06B6D4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36576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463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연구자의 길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731520" y="2377440"/>
            <a:ext cx="2560320" cy="2011680"/>
          </a:xfrm>
          <a:prstGeom prst="rect">
            <a:avLst/>
          </a:prstGeom>
          <a:solidFill>
            <a:srgbClr val="0891B2">
              <a:alpha val="2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731520" y="2468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수학이 언어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01752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확률, 선형대수가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AI의 기초 언어입니다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91840" y="2377440"/>
            <a:ext cx="2560320" cy="2011680"/>
          </a:xfrm>
          <a:prstGeom prst="rect">
            <a:avLst/>
          </a:prstGeom>
          <a:solidFill>
            <a:srgbClr val="06B6D4">
              <a:alpha val="2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3291840" y="2468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코딩이 도구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474720" y="301752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Python으로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아이디어를 실험합니다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852160" y="2377440"/>
            <a:ext cx="2560320" cy="2011680"/>
          </a:xfrm>
          <a:prstGeom prst="rect">
            <a:avLst/>
          </a:prstGeom>
          <a:solidFill>
            <a:srgbClr val="F97316">
              <a:alpha val="2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5852160" y="2468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호기심이 시작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035040" y="301752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질문에서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7편의 논문이 탄생!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"하나의 핵심 아이디어를 깊이 파고들면, 여러 분야로 확장할 수 있습니다"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1044</Words>
  <Application>Microsoft Office PowerPoint</Application>
  <PresentationFormat>화면 슬라이드 쇼(16:9)</PresentationFormat>
  <Paragraphs>176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Research Lecture for High School Students</dc:title>
  <dc:subject>PptxGenJS Presentation</dc:subject>
  <dc:creator>Jin Ho Choi</dc:creator>
  <cp:lastModifiedBy>jinho choi</cp:lastModifiedBy>
  <cp:revision>5</cp:revision>
  <dcterms:created xsi:type="dcterms:W3CDTF">2026-04-04T00:47:53Z</dcterms:created>
  <dcterms:modified xsi:type="dcterms:W3CDTF">2026-04-04T01:49:21Z</dcterms:modified>
</cp:coreProperties>
</file>