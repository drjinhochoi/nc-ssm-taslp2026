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6" d="100"/>
          <a:sy n="66" d="100"/>
        </p:scale>
        <p:origin x="644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0206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73152" cy="201168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10515600" y="1371600"/>
            <a:ext cx="1097280" cy="54864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058400" y="4572000"/>
            <a:ext cx="1554480" cy="5486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22960" y="1280160"/>
            <a:ext cx="9144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AI가 소음 속에서도 듣고,</a:t>
            </a:r>
            <a:endParaRPr lang="en-US" sz="4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안개 속에서도 본다!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초소형 AI 칩의 세계  —  Noise-Conditioned AI Framework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657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SmartEAR</a:t>
            </a: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|  </a:t>
            </a:r>
            <a:r>
              <a:rPr lang="en-US" sz="13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고등학생 대상 AI 연구 소개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572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Interspeech 2026</a:t>
            </a: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|  </a:t>
            </a:r>
            <a:r>
              <a:rPr lang="en-US" sz="1100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IEEE TASLP</a:t>
            </a: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|  </a:t>
            </a:r>
            <a:r>
              <a:rPr lang="en-US" sz="1100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ICASSP 2027</a:t>
            </a: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|  </a:t>
            </a:r>
            <a:r>
              <a:rPr lang="en-US" sz="1100" dirty="0">
                <a:solidFill>
                  <a:srgbClr val="FFA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CVPR 2027</a:t>
            </a: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|  </a:t>
            </a:r>
            <a:r>
              <a:rPr lang="en-US" sz="110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ICCV 2027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92000" cy="36576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연구자 소개 &amp; SmartEAR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KAIST Ph.D. | 12-year Deep-Tech Startup | Self-Operating Industrial 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103120"/>
            <a:ext cx="5029200" cy="41148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77240" y="2103120"/>
            <a:ext cx="5029200" cy="32004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0584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최진호  |  Chief Scientist &amp; CEO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92608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0000"/>
              </a:lnSpc>
              <a:spcAft>
                <a:spcPts val="400"/>
              </a:spcAft>
            </a:pP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KAIST Ph.D.  </a:t>
            </a: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AI/신호처리 전공</a:t>
            </a: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Harvard Business School Online  </a:t>
            </a: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Credential Candidate (2027)</a:t>
            </a: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(사)</a:t>
            </a:r>
            <a:r>
              <a:rPr lang="en-US" sz="1200" b="1" dirty="0" err="1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한국인공지능협회</a:t>
            </a: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</a:t>
            </a:r>
            <a:r>
              <a:rPr lang="ko-KR" altLang="en-US" sz="12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산학이사</a:t>
            </a: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r>
              <a:rPr lang="en-US" sz="1200" b="1" dirty="0" err="1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휴먼플러스</a:t>
            </a:r>
            <a:r>
              <a:rPr lang="en-US" altLang="ko-KR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(주)</a:t>
            </a: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</a:t>
            </a:r>
            <a:r>
              <a:rPr lang="ko-KR" altLang="en-US" sz="12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사장</a:t>
            </a: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IEEE 저널 다수 게재  </a:t>
            </a: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— Trans. SP / IP / ASLP</a:t>
            </a:r>
            <a:r>
              <a:rPr lang="en-US" sz="5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2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삼성 </a:t>
            </a:r>
            <a:r>
              <a:rPr lang="en-US" sz="1200" b="1" dirty="0" err="1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휴먼테크</a:t>
            </a:r>
            <a:r>
              <a:rPr lang="en-US" sz="12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</a:t>
            </a:r>
            <a:r>
              <a:rPr lang="en-US" sz="1200" dirty="0" err="1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금상</a:t>
            </a: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200" dirty="0" err="1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수상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0" y="2103120"/>
            <a:ext cx="5029200" cy="41148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6400800" y="2103120"/>
            <a:ext cx="5029200" cy="32004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62940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SmartEAR Co., Ltd.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629400" y="2743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Agentic AI 기반 AX(AI Transformation) 서비스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629400" y="3200400"/>
            <a:ext cx="1737360" cy="8686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629400" y="3200400"/>
            <a:ext cx="1737360" cy="32004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629400" y="33375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30+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29400" y="3794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549640" y="3200400"/>
            <a:ext cx="1737360" cy="8686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8549640" y="3200400"/>
            <a:ext cx="1737360" cy="32004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549640" y="33375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12yr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549640" y="3794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Operational History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0469880" y="3200400"/>
            <a:ext cx="1737360" cy="8686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10469880" y="3200400"/>
            <a:ext cx="1737360" cy="3200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10469880" y="333756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0469880" y="37947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AX Packages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629400" y="429768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Financial Officer AI (금융)</a:t>
            </a:r>
            <a:r>
              <a:rPr lang="en-US" sz="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1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Superintendent AI (오피스)</a:t>
            </a:r>
            <a:r>
              <a:rPr lang="en-US" sz="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1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Factory Manager AI (제조/물류)</a:t>
            </a:r>
            <a:r>
              <a:rPr lang="en-US" sz="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1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House Keeper AI (스마트 리빙)</a:t>
            </a:r>
            <a:r>
              <a:rPr lang="en-US" sz="4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1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</a:t>
            </a:r>
            <a:r>
              <a:rPr lang="en-US" sz="11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AI (교육/연구)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92000" cy="36576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시끄러운 카페에서도 '헤이 시리'를 알아듣는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#1  |  NanoMamba: Noise-Robust KWS with Spectral-Aware SSMs  |  Interspeech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주파수별 소음 적응: </a:t>
            </a: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40개 Mel 대역을 N개 서브밴드로 묶어, 각각 독립적으로 SSM 상태의 선택성을 제어</a:t>
            </a: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소음 증폭 문제 해결: </a:t>
            </a: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기존 SSM의 O(σ⁶) 소음 분산을 O(σ²)로 이론적으로 감소시킴</a:t>
            </a: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상위 호환 보장: </a:t>
            </a: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NC-SSM의 가설 공간은 기존 SSM을 완전히 포함 (superset guarantee)</a:t>
            </a: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비유: </a:t>
            </a: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시끄러운 교실에서 선생님 목소리에만 집중하듯, AI도 주파수별로 "소음 필터"를 자동 조절!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5029200"/>
            <a:ext cx="2194560" cy="10058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77240" y="5029200"/>
            <a:ext cx="2194560" cy="32004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7724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7,443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24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Parameters (일반 AI의 수천분의 1)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5029200"/>
            <a:ext cx="2194560" cy="10058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3246120" y="5029200"/>
            <a:ext cx="2194560" cy="3200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24612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O(σ²)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4612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소음 분산 (기존 O(σ⁶))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15000" y="5029200"/>
            <a:ext cx="2194560" cy="10058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715000" y="5029200"/>
            <a:ext cx="2194560" cy="32004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71500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Superset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71500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기존 SSM 완전 포함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5029200"/>
            <a:ext cx="2194560" cy="10058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183880" y="5029200"/>
            <a:ext cx="2194560" cy="32004"/>
          </a:xfrm>
          <a:prstGeom prst="rect">
            <a:avLst/>
          </a:prstGeom>
          <a:solidFill>
            <a:srgbClr val="FFAB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18388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bands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18388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주파수 대역별 독립 제어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92000" cy="36576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소음이 AI를 망가뜨리는 원리를 수학으로 증명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#2  |  NC-SSM: Noise-Conditioned State Space Models  |  IEEE TASLP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수학적 증명: </a:t>
            </a: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입력 의존적 연산에서 소음이 곱셈적으로 결합 → 도미노처럼 내부에서 O(σ⁶)으로 증폭</a:t>
            </a: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5가지 방어 메커니즘: </a:t>
            </a: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서브밴드 선택성, Delta Floor, B-base 조건화, 학습형 스펙트럼 게이트(LSG), 스펙트럼 차감</a:t>
            </a: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Cortex-M7 실측: </a:t>
            </a: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스마트워치급 칩에서 실시간 구동 검증 완료</a:t>
            </a: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비유: </a:t>
            </a: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도미노처럼 소음이 쏟아지면 AI 안에서 점점 커져요. 이걸 5개의 방파제로 막았습니다!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5029200"/>
            <a:ext cx="2194560" cy="10058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77240" y="5029200"/>
            <a:ext cx="2194560" cy="32004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7724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95.0%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24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Accuracy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5029200"/>
            <a:ext cx="2194560" cy="10058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3246120" y="5029200"/>
            <a:ext cx="2194560" cy="3200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24612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+11%p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4612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CNN @ 0dB SNR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15000" y="5029200"/>
            <a:ext cx="2194560" cy="10058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715000" y="5029200"/>
            <a:ext cx="2194560" cy="32004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71500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7.1ms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71500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Cortex-M7 Latency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5029200"/>
            <a:ext cx="2194560" cy="10058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183880" y="5029200"/>
            <a:ext cx="2194560" cy="32004"/>
          </a:xfrm>
          <a:prstGeom prst="rect">
            <a:avLst/>
          </a:prstGeom>
          <a:solidFill>
            <a:srgbClr val="FFAB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18388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3.42M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18388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MACs (CNN의 1.8배 절감)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92000" cy="36576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더 간단하고 더 강력한 소음 방어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#3  |  NC-TCN: Noise-Conditional Temporal Convolutional Networks  |  MLSP 2026 / ICASSP 2027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핵심 발견: </a:t>
            </a: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소음 방어 기술은 AI의 "뇌 구조(backbone)"가 아니라 "귀(frontend)" 부분이 핵심!</a:t>
            </a: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LSG + DualPCEN: </a:t>
            </a: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학습형 스펙트럼 게이트(120 파라미터) + 듀얼 PCEN 전문가의 스펙트럼 평탄도 기반 라우팅</a:t>
            </a: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백본 무관(Backbone-Agnostic): </a:t>
            </a: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어떤 AI 구조에든 붙일 수 있는 범용 노이즈 방어 프론트엔드</a:t>
            </a: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비유: </a:t>
            </a: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좋은 헤드폰의 노이즈캔슬링처럼, AI도 입력 단계에서 소음을 처리하면 됨!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5029200"/>
            <a:ext cx="2194560" cy="10058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77240" y="5029200"/>
            <a:ext cx="2194560" cy="32004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7724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96.6%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24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Accuracy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5029200"/>
            <a:ext cx="2194560" cy="10058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3246120" y="5029200"/>
            <a:ext cx="2194560" cy="3200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24612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89.7%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4612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Accuracy @ 0dB SNR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15000" y="5029200"/>
            <a:ext cx="2194560" cy="10058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715000" y="5029200"/>
            <a:ext cx="2194560" cy="32004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71500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10.9×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71500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계산량 절감 vs DS-CNN-S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5029200"/>
            <a:ext cx="2194560" cy="10058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183880" y="5029200"/>
            <a:ext cx="2194560" cy="32004"/>
          </a:xfrm>
          <a:prstGeom prst="rect">
            <a:avLst/>
          </a:prstGeom>
          <a:solidFill>
            <a:srgbClr val="FFAB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18388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21,689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18388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Parameters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92000" cy="36576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30번만 들려주면 새 단어를 배우는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#4  |  NC-OPAL: Few-Shot Class-Incremental KWS via Prototype-Imprinted LoRA  |  Interspeech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Few-Shot 학습: </a:t>
            </a: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사용자가 새 키워드를 30개 샘플만으로 추가 — 최초로 2만 파라미터 모델에서 달성</a:t>
            </a: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LoRA 미세조정: </a:t>
            </a: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기존 AI를 거의 건드리지 않고 새 기능 추가 (Low-Rank Adaptation)</a:t>
            </a: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지식 증류(KD): </a:t>
            </a: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옛 기억(기존 키워드)을 보존하면서 새로운 것을 학습 — 망각률 단 1.3%</a:t>
            </a: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비유: </a:t>
            </a: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전학생 이름을 30번 들으면 기억하는 것처럼, AI도 30개 샘플로 새 단어를 학습!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5029200"/>
            <a:ext cx="2194560" cy="10058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77240" y="5029200"/>
            <a:ext cx="2194560" cy="32004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7724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91.7%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24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새 단어 정확도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5029200"/>
            <a:ext cx="2194560" cy="10058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3246120" y="5029200"/>
            <a:ext cx="2194560" cy="3200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24612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1.3%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4612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기존 단어 망각률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15000" y="5029200"/>
            <a:ext cx="2194560" cy="10058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715000" y="5029200"/>
            <a:ext cx="2194560" cy="32004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71500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71500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학습 샘플 수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5029200"/>
            <a:ext cx="2194560" cy="10058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183880" y="5029200"/>
            <a:ext cx="2194560" cy="32004"/>
          </a:xfrm>
          <a:prstGeom prst="rect">
            <a:avLst/>
          </a:prstGeom>
          <a:solidFill>
            <a:srgbClr val="FFAB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18388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21K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18388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Parameters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92000" cy="36576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안개 낀 도로에서도 차선을 보는 AI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#5  |  NC-Conv: Dual-Path Convolution for Degradation-Robust Vision  |  ACCV / BMVC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오디오 → 비전 확장: </a:t>
            </a: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NC-SSM의 소음 방어 이론을 카메라/영상 AI로 최초 확장</a:t>
            </a: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듀얼 패스 설계: </a:t>
            </a: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동적 경로(표현력, O(σ⁴⁺)) + 정적 경로(안정성, O(σ²))를 학습된 σ 게이트로 자동 조합</a:t>
            </a: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비디오 확장: </a:t>
            </a: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양방향 시간축 NC-SSM으로 프레임별 화질 판단 → 터널 영상에서 극적 성능 향상</a:t>
            </a: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비유: </a:t>
            </a: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맑은 날과 안개 낀 날, 운전자가 보는 방식을 바꾸듯 AI도 화질에 따라 전략 변경!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5029200"/>
            <a:ext cx="2194560" cy="10058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77240" y="5029200"/>
            <a:ext cx="2194560" cy="32004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7724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+21.7%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24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안개 환경 (CULane)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5029200"/>
            <a:ext cx="2194560" cy="10058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3246120" y="5029200"/>
            <a:ext cx="2194560" cy="3200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24612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+35.2%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4612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터널 최어두 구간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15000" y="5029200"/>
            <a:ext cx="2194560" cy="10058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715000" y="5029200"/>
            <a:ext cx="2194560" cy="32004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71500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253K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71500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Parameters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5029200"/>
            <a:ext cx="2194560" cy="10058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183880" y="5029200"/>
            <a:ext cx="2194560" cy="32004"/>
          </a:xfrm>
          <a:prstGeom prst="rect">
            <a:avLst/>
          </a:prstGeom>
          <a:solidFill>
            <a:srgbClr val="FFAB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18388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$8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18388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MCU 배포 가능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92000" cy="36576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오디오에서 영상까지, 하나의 이론으로 통합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#6  |  NC Vision: From Dual-Path Convolution to Dilated Multi-Scale Networks  |  CVPR 2027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194560"/>
            <a:ext cx="2377440" cy="822960"/>
          </a:xfrm>
          <a:prstGeom prst="rect">
            <a:avLst/>
          </a:prstGeom>
          <a:solidFill>
            <a:srgbClr val="F1F5F9"/>
          </a:solidFill>
          <a:ln w="19050">
            <a:solidFill>
              <a:srgbClr val="00E5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NC-SSM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(Audio)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36392" y="2331720"/>
            <a:ext cx="265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83280" y="2194560"/>
            <a:ext cx="2377440" cy="822960"/>
          </a:xfrm>
          <a:prstGeom prst="rect">
            <a:avLst/>
          </a:prstGeom>
          <a:solidFill>
            <a:srgbClr val="F1F5F9"/>
          </a:solidFill>
          <a:ln w="19050">
            <a:solidFill>
              <a:srgbClr val="7C4D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383280" y="21945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NC-Conv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(Image)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742432" y="2331720"/>
            <a:ext cx="265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▶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89320" y="2194560"/>
            <a:ext cx="2377440" cy="822960"/>
          </a:xfrm>
          <a:prstGeom prst="rect">
            <a:avLst/>
          </a:prstGeom>
          <a:solidFill>
            <a:srgbClr val="F1F5F9"/>
          </a:solidFill>
          <a:ln w="19050">
            <a:solidFill>
              <a:srgbClr val="00E67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989320" y="21945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NC-TCN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348472" y="2331720"/>
            <a:ext cx="265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595360" y="2194560"/>
            <a:ext cx="2377440" cy="822960"/>
          </a:xfrm>
          <a:prstGeom prst="rect">
            <a:avLst/>
          </a:prstGeom>
          <a:solidFill>
            <a:srgbClr val="F1F5F9"/>
          </a:solidFill>
          <a:ln w="19050">
            <a:solidFill>
              <a:srgbClr val="FFAB4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595360" y="21945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Bi-NC-SSM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(Video)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77240" y="33832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통합 프레임워크: </a:t>
            </a: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하나의 수학적 이론(소음 증폭 이론)으로 오디오, 이미지, 비디오 AI 모두 개선</a:t>
            </a: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Dilated Multi-Scale: </a:t>
            </a: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확장된 수용장(dilation {1,2,4})으로 안개, 어두움 같은 넓은 영역 화질 저하 감지</a:t>
            </a: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비유: </a:t>
            </a: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하나의 레시피로 빵, 케이크, 쿠키를 다 만드는 것처럼 하나의 이론으로 여러 AI를 개선!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" y="5029200"/>
            <a:ext cx="2194560" cy="10058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777240" y="5029200"/>
            <a:ext cx="2194560" cy="32004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7724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+13.5%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7724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안개 (CIFAR-10-C)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46120" y="5029200"/>
            <a:ext cx="2194560" cy="10058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3246120" y="5029200"/>
            <a:ext cx="2194560" cy="3200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324612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+12.4%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324612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대비 왜곡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715000" y="5029200"/>
            <a:ext cx="2194560" cy="10058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5715000" y="5029200"/>
            <a:ext cx="2194560" cy="32004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571500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253K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571500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Parameters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183880" y="5029200"/>
            <a:ext cx="2194560" cy="10058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4" name="Shape 32"/>
          <p:cNvSpPr/>
          <p:nvPr/>
        </p:nvSpPr>
        <p:spPr>
          <a:xfrm>
            <a:off x="8183880" y="5029200"/>
            <a:ext cx="2194560" cy="32004"/>
          </a:xfrm>
          <a:prstGeom prst="rect">
            <a:avLst/>
          </a:prstGeom>
          <a:solidFill>
            <a:srgbClr val="FFAB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Text 33"/>
          <p:cNvSpPr/>
          <p:nvPr/>
        </p:nvSpPr>
        <p:spPr>
          <a:xfrm>
            <a:off x="818388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+8.1%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818388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평균 오염 정확도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92000" cy="36576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동적 vs 정적, 그 사이의 최적점 찾기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Paper #7  |  NC-Conv: Bridging Dynamic Expressiveness and Static Robustness  |  ICCV 2027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10312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핵심 이론: </a:t>
            </a: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입력 의존적(동적) 처리 → 소음 증폭 O(σ⁶)  |  고정(정적) 처리 → O(σ²)</a:t>
            </a: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학습형 σ 게이트: </a:t>
            </a: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화질 라벨 없이도 자동으로 동적/정적 비율을 학습 (unsupervised)</a:t>
            </a: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상위 호환: </a:t>
            </a: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σ=1이면 기존 동적 CNN과 동일 → NC-Conv ⊃ 일반 CNN</a:t>
            </a:r>
            <a:r>
              <a:rPr lang="en-US" sz="6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
</a:t>
            </a: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비유: </a:t>
            </a: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날씨 좋은 날은 자전거(유연), 폭풍 올 때는 버스(안정) 타는 것처럼!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5029200"/>
            <a:ext cx="2194560" cy="10058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77240" y="5029200"/>
            <a:ext cx="2194560" cy="32004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7724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+6.1%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7724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평균 오염 정확도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5029200"/>
            <a:ext cx="2194560" cy="10058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3246120" y="5029200"/>
            <a:ext cx="2194560" cy="3200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324612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+13.5%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24612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안개 환경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15000" y="5029200"/>
            <a:ext cx="2194560" cy="10058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5715000" y="5029200"/>
            <a:ext cx="2194560" cy="32004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571500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+12.4%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71500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대비 왜곡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5029200"/>
            <a:ext cx="2194560" cy="10058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8183880" y="5029200"/>
            <a:ext cx="2194560" cy="32004"/>
          </a:xfrm>
          <a:prstGeom prst="rect">
            <a:avLst/>
          </a:prstGeom>
          <a:solidFill>
            <a:srgbClr val="FFAB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183880" y="516636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88.7%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183880" y="56235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Clean 성능 유지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92000" cy="36576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하나의 아이디어가 세상을 바꾸는 과정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Research Roadmap  |  하나의 수학적 통찰 → 소리, 이미지, 영상 전체에 적용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944368"/>
            <a:ext cx="10607040" cy="54864"/>
          </a:xfrm>
          <a:prstGeom prst="rect">
            <a:avLst/>
          </a:prstGeom>
          <a:solidFill>
            <a:srgbClr val="55556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1600200" y="2743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1097280" y="21031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 초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97280" y="3337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NC-SSM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703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소리 인식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Interspeech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03320" y="2743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200400" y="21031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 초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0" y="3337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TASLP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017520" y="3703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이론 증명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IEEE 저널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06440" y="2743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303520" y="21031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 중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03520" y="3337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NC-TCN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20640" y="3703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효율적 소음 방어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MLSP / ICASSP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909560" y="2743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E67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406640" y="21031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06640" y="3337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NC-OPAL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23760" y="3703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맞춤 학습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Interspeech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012680" y="27432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FAB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9509760" y="210312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2026~27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509760" y="33375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NC-Conv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326880" y="37033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이미지·비디오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ACCV→CVPR→ICCV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77240" y="5029200"/>
            <a:ext cx="10607040" cy="109728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777240" y="5029200"/>
            <a:ext cx="10607040" cy="32004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1005840" y="521208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핵심 메시지:  </a:t>
            </a:r>
            <a:r>
              <a:rPr lang="en-US" sz="14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하나의 수학적 통찰(소음 증폭 이론)을 발견하면, 소리 → 이미지 → 영상 전체에 적용할 수 있습니다. </a:t>
            </a:r>
            <a:r>
              <a:rPr lang="en-US" sz="14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깊이 있는 하나가 넓은 확장을 만듭니다.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92000" cy="36576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54864" cy="5029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7724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 기술이 바꿀 미래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508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Real-World Applications  |  비싼 GPU 없이도, 손목시계 크기의 칩에서 작동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103120"/>
            <a:ext cx="2606040" cy="18288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777240" y="2103120"/>
            <a:ext cx="2606040" cy="32004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914400" y="22860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스마트워치 / 이어버드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7889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소음 속에서도 음성 명령 인식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Always-on KWS with &lt;10ms latency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0" y="2103120"/>
            <a:ext cx="2606040" cy="18288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3657600" y="2103120"/>
            <a:ext cx="2606040" cy="32004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3794760" y="22860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자율주행차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94760" y="27889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안개/터널에서도 차선 인식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+35% 터널 어두운 구간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37960" y="2103120"/>
            <a:ext cx="2606040" cy="18288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6537960" y="2103120"/>
            <a:ext cx="2606040" cy="3200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675120" y="22860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보청기 / 의료기기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27889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개인 맞춤 음성 인식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30샘플로 새 키워드 학습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418320" y="2103120"/>
            <a:ext cx="2606040" cy="18288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9418320" y="2103120"/>
            <a:ext cx="2606040" cy="32004"/>
          </a:xfrm>
          <a:prstGeom prst="rect">
            <a:avLst/>
          </a:prstGeom>
          <a:solidFill>
            <a:srgbClr val="FFAB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9555480" y="228600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AB4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CCTV / IoT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555480" y="278892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열악한 환경 영상 분석</a:t>
            </a:r>
            <a:endParaRPr lang="en-US" sz="11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$8 MCU에서 실시간 구동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42062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SmartEAR AX 패키지와의 연결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77240" y="4663440"/>
            <a:ext cx="2194560" cy="1463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Shape 25"/>
          <p:cNvSpPr/>
          <p:nvPr/>
        </p:nvSpPr>
        <p:spPr>
          <a:xfrm>
            <a:off x="777240" y="4663440"/>
            <a:ext cx="2194560" cy="32004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8" name="Text 26"/>
          <p:cNvSpPr/>
          <p:nvPr/>
        </p:nvSpPr>
        <p:spPr>
          <a:xfrm>
            <a:off x="868680" y="4800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Factory Manager AI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68680" y="51663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공장 소음 속 음성제어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불량 비전 검사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46120" y="4663440"/>
            <a:ext cx="2194560" cy="1463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Shape 29"/>
          <p:cNvSpPr/>
          <p:nvPr/>
        </p:nvSpPr>
        <p:spPr>
          <a:xfrm>
            <a:off x="3246120" y="4663440"/>
            <a:ext cx="2194560" cy="32004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2" name="Text 30"/>
          <p:cNvSpPr/>
          <p:nvPr/>
        </p:nvSpPr>
        <p:spPr>
          <a:xfrm>
            <a:off x="3337560" y="4800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4D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House Keeper AI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37560" y="51663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스마트홈 음성 인식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환경 적응형 CCTV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715000" y="4663440"/>
            <a:ext cx="2194560" cy="1463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5715000" y="4663440"/>
            <a:ext cx="2194560" cy="3200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5806440" y="4800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Superintendent AI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806440" y="51663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사무실 회의 키워드 감지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출입 영상 분석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183880" y="4663440"/>
            <a:ext cx="2194560" cy="1463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9" name="Shape 37"/>
          <p:cNvSpPr/>
          <p:nvPr/>
        </p:nvSpPr>
        <p:spPr>
          <a:xfrm>
            <a:off x="8183880" y="4663440"/>
            <a:ext cx="2194560" cy="32004"/>
          </a:xfrm>
          <a:prstGeom prst="rect">
            <a:avLst/>
          </a:prstGeom>
          <a:solidFill>
            <a:srgbClr val="FFAB40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0" name="Text 38"/>
          <p:cNvSpPr/>
          <p:nvPr/>
        </p:nvSpPr>
        <p:spPr>
          <a:xfrm>
            <a:off x="8275320" y="48006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AB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Academic AI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275320" y="51663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교육용 음성 인터페이스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 실험실 모니터링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4572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537960"/>
            <a:ext cx="12192000" cy="32004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6583680"/>
            <a:ext cx="12192000" cy="36576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73152" cy="1097280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10515600" y="1371600"/>
            <a:ext cx="1097280" cy="54864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0058400" y="5029200"/>
            <a:ext cx="1554480" cy="5486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22960" y="10972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연구자의 길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822960" y="1828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"하나의 핵심 아이디어를 깊이 파고들면, 여러 분야로 확장할 수 있습니다"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2560320"/>
            <a:ext cx="3474720" cy="32004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77240" y="2560320"/>
            <a:ext cx="3474720" cy="32004"/>
          </a:xfrm>
          <a:prstGeom prst="rect">
            <a:avLst/>
          </a:prstGeom>
          <a:solidFill>
            <a:srgbClr val="00E5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960120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수학이 언어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60120" y="329184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확률, 선형대수가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AI의 기초 언어입니다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O(σ⁶) vs O(σ²) 같은 통찰이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7편의 논문을 만들었습니다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2560320"/>
            <a:ext cx="3474720" cy="32004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4572000" y="2560320"/>
            <a:ext cx="3474720" cy="32004"/>
          </a:xfrm>
          <a:prstGeom prst="rect">
            <a:avLst/>
          </a:prstGeom>
          <a:solidFill>
            <a:srgbClr val="7C4D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4754880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코딩이 도구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754880" y="329184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Python, PyTorch로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아이디어를 실험합니다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이론만으로는 부족하고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실험으로 증명해야 합니다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366760" y="2560320"/>
            <a:ext cx="3474720" cy="3200400"/>
          </a:xfrm>
          <a:prstGeom prst="rect">
            <a:avLst/>
          </a:prstGeom>
          <a:solidFill>
            <a:srgbClr val="F1F5F9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Shape 17"/>
          <p:cNvSpPr/>
          <p:nvPr/>
        </p:nvSpPr>
        <p:spPr>
          <a:xfrm>
            <a:off x="8366760" y="2560320"/>
            <a:ext cx="3474720" cy="32004"/>
          </a:xfrm>
          <a:prstGeom prst="rect">
            <a:avLst/>
          </a:prstGeom>
          <a:solidFill>
            <a:srgbClr val="00E67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8549640" y="2743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E67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호기심이 시작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549640" y="329184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"왜 소음에서 AI가 망가질까?"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이 질문 하나에서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7편의 논문과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5개의 특허가 탄생했습니다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60350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E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contact@smartear.co.kr</a:t>
            </a: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|  </a:t>
            </a:r>
            <a:r>
              <a:rPr lang="en-US" sz="1100" dirty="0">
                <a:solidFill>
                  <a:srgbClr val="7C4D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www.smartear.co.kr</a:t>
            </a: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|  </a:t>
            </a:r>
            <a:r>
              <a:rPr lang="en-US" sz="11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SmartEAR Co., Ltd.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064240" y="63093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1382</Words>
  <Application>Microsoft Office PowerPoint</Application>
  <PresentationFormat>와이드스크린</PresentationFormat>
  <Paragraphs>201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Arial</vt:lpstr>
      <vt:lpstr>Consolas</vt:lpstr>
      <vt:lpstr>Segoe UI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Research Lecture - SmartEAR IR Format</dc:title>
  <dc:subject>PptxGenJS Presentation</dc:subject>
  <dc:creator>SmartEAR Co., Ltd.</dc:creator>
  <cp:lastModifiedBy>jinho choi</cp:lastModifiedBy>
  <cp:revision>2</cp:revision>
  <dcterms:created xsi:type="dcterms:W3CDTF">2026-04-04T01:19:41Z</dcterms:created>
  <dcterms:modified xsi:type="dcterms:W3CDTF">2026-04-04T02:26:28Z</dcterms:modified>
</cp:coreProperties>
</file>